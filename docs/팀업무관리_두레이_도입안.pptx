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발표는 팀원이 자기 업무를 잊고 방치하는 문제를 시스템으로 관리하기 위한 도구 도입안입니다. 결론은 NHN 두레이를 무료 플랜으로 도입하는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문제는 개인의 성실함이 아니라 구조에 있습니다. 기록되지 않은 일은 잊히고, 보이지 않는 진행은 관리할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목적: 기록의 강제, 자기 점검의 습관화, 투명한 공유. 특히 세 번째가 핵심입니다. 동료의 시선이 가장 강력한 리마인더입니다.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여덟 가지 요구사항 중 R4와 R5, 즉 담당자가 아니라 팀원 전원이 알림을 받는다는 점이 일반 협업툴과 갈리는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완벽하게 맞는 도구를 몇 일 걸려 만드는 것보다, 80% 맞는 도구로 오늘 시작하는 편이 낫다고 판단했습니다.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가지는 어떤 상용 도구도 기본 제공하지 않습니다. 운영 규칙으로 메우거나, 나중에 스크립트로 보완해야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ClickUp이 기능만 보면 가장 잘 맞지만 영어 화면이라 3명 모두 쓰기에 부담이 큽니다. 도구는 결국 안 쓰면 소용이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두레이를 선택한 이유는 기능이 가장 뛰어나서가 아니라, 3명이 실제로 계속 쓸 가능성이 가장 높기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설치가 부담이라 느끼는 분에게는 브라우저만으로도 전부 쓸 수 있다는 점을 강조하세요. 다만 폰 앱은 알림 때문에 꼭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용어를 세 개로 줄여서 설명하는 것이 중요합니다. 처음 쓰는 사람은 화면의 모든 메뉴를 이해할 필요가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설정은 대표 한 명만 하면 되고 30분이면 끝납니다. 나머지 두 명은 초대 메일 링크를 누르고 폰 앱만 깔면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참조자에 팀원 전원을 넣는 것이 가장 중요합니다. 이걸 빠뜨리면 알림이 담당자에게만 가서 도입 목적이 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하루 1분이면 충분하다는 점을 강조하세요. 부담이 크다고 느끼는 순간 아무도 쓰지 않게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규칙을 늘리지 마세요. 세 줄이 넘어가면 아무도 기억하지 못합니다.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빈틈을 숨기지 말고 미리 알리는 편이 낫습니다. 나중에 스크립트로 보완할 수 있는 경로도 열려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결정할 것은 네 가지뿐입니다. 확정되면 바로 이번 주에 가입과 초대를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458200" y="3415284"/>
            <a:ext cx="3017520" cy="27432"/>
          </a:xfrm>
          <a:prstGeom prst="rect">
            <a:avLst/>
          </a:prstGeom>
          <a:solidFill>
            <a:srgbClr val="31408A"/>
          </a:solidFill>
          <a:ln/>
        </p:spPr>
      </p:sp>
      <p:sp>
        <p:nvSpPr>
          <p:cNvPr id="4" name="Shape 2"/>
          <p:cNvSpPr/>
          <p:nvPr/>
        </p:nvSpPr>
        <p:spPr>
          <a:xfrm>
            <a:off x="8275320" y="3246120"/>
            <a:ext cx="365760" cy="365760"/>
          </a:xfrm>
          <a:prstGeom prst="ellipse">
            <a:avLst/>
          </a:prstGeom>
          <a:solidFill>
            <a:srgbClr val="FFB627"/>
          </a:solidFill>
          <a:ln w="25400">
            <a:solidFill>
              <a:srgbClr val="FFB6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3776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281160" y="3246120"/>
            <a:ext cx="365760" cy="365760"/>
          </a:xfrm>
          <a:prstGeom prst="ellipse">
            <a:avLst/>
          </a:prstGeom>
          <a:solidFill>
            <a:srgbClr val="FFB627"/>
          </a:solidFill>
          <a:ln w="25400">
            <a:solidFill>
              <a:srgbClr val="FFB6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0" y="3776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중간점검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287000" y="3246120"/>
            <a:ext cx="365760" cy="3657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0" y="3776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중간점검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292840" y="3246120"/>
            <a:ext cx="365760" cy="3657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0" y="3776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18120" y="2395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L A 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87452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관리 도구 도입 계획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24028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업무 마일스톤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체계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2960" y="4069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업무를 까먹는 일이 없는 팀을, 사람의 기억이 아니라 시스템으로 만든다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280160" cy="18288"/>
          </a:xfrm>
          <a:prstGeom prst="rect">
            <a:avLst/>
          </a:prstGeom>
          <a:solidFill>
            <a:srgbClr val="31408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29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07  ·  3인 팀 기준  ·  NHN 두레이(Dooray) 도입안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도구가 필요한가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우리 팀의 모습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“그거 하고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계신가요?”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" y="3931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사람이 직접 물어봐야만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상황을 알 수 있는 상태.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892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묻는 사람도 지치고, 묻지 않으면 그대로 잊혀집니다.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97880" y="1691640"/>
            <a:ext cx="571500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99632" y="2020824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640" y="2178832"/>
            <a:ext cx="269199" cy="26919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67728" y="191109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자체를 잊어버린다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67728" y="225856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맡은 일이 어디에도 기록되어 있지 않아, 담당자가 잊으면 그대로 사라집니다.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97880" y="3090672"/>
            <a:ext cx="571500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3419856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640" y="3577864"/>
            <a:ext cx="269199" cy="26919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67728" y="331012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상황이 보이지 않는다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967728" y="365760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 어디까지 왔는지 알 수 없어, 마감 직전에야 문제가 드러납니다.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897880" y="4489704"/>
            <a:ext cx="571500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99632" y="4818888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640" y="4976896"/>
            <a:ext cx="269199" cy="26919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67728" y="47091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늦어져도 아무도 모른다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967728" y="505663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일정이 밀린 사실이 조용히 넘어가고, 다음에도 똑같이 반복됩니다.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목적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도구가 노리는 것 세 가지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의지에 기대지 않고, 구조가 대신 챙기게 만듭니다.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" y="1965960"/>
            <a:ext cx="34747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377440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693" y="2570013"/>
            <a:ext cx="328087" cy="3280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4871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60120" y="33101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기록의 강제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3767328"/>
            <a:ext cx="27249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업무는 마일스톤과 예상 일정이 기입된 상태로만 존재할 수 있게 합니다. 기록에 없는 일은 없는 일입니다.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61688" y="1965960"/>
            <a:ext cx="34747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45736" y="2377440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309" y="2570013"/>
            <a:ext cx="328087" cy="3280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0136" y="24871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745736" y="33101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점검의 습관화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745736" y="3767328"/>
            <a:ext cx="27249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팀원이 스스로 세운 계획 대비 진행 여부를 직접 체크합니다. 체크 행위 자체가 팀에 대한 보고가 됩니다.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47304" y="1965960"/>
            <a:ext cx="34747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31352" y="2377440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925" y="2570013"/>
            <a:ext cx="328087" cy="3280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45752" y="24871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8531352" y="33101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투명한 공유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531352" y="3767328"/>
            <a:ext cx="27249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도달과 지연 사실이 담당자뿐 아니라 팀원 전원에게 전달됩니다. 조용히 넘어갈 수 없는 구조입니다.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필요로 하는 기능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536192"/>
            <a:ext cx="53949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1810512"/>
            <a:ext cx="603504" cy="429768"/>
          </a:xfrm>
          <a:prstGeom prst="roundRect">
            <a:avLst>
              <a:gd name="adj" fmla="val 170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1810512"/>
            <a:ext cx="6035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912" y="1682496"/>
            <a:ext cx="42245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팀원별 업무를 마일스톤 방식으로 기록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1536192"/>
            <a:ext cx="53949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5664" y="1810512"/>
            <a:ext cx="603504" cy="429768"/>
          </a:xfrm>
          <a:prstGeom prst="roundRect">
            <a:avLst>
              <a:gd name="adj" fmla="val 1702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55664" y="1810512"/>
            <a:ext cx="6035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87184" y="1682496"/>
            <a:ext cx="42245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업무마다 4단계 계획 수립 : 시작 → 중간점검 1 → 중간점검 2 → 완료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2670048"/>
            <a:ext cx="53949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" y="2944368"/>
            <a:ext cx="603504" cy="429768"/>
          </a:xfrm>
          <a:prstGeom prst="roundRect">
            <a:avLst>
              <a:gd name="adj" fmla="val 17021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" y="2944368"/>
            <a:ext cx="6035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81912" y="2816352"/>
            <a:ext cx="42245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대비 진행 여부를 담당자 본인이 체크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99632" y="2670048"/>
            <a:ext cx="53949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55664" y="2944368"/>
            <a:ext cx="603504" cy="429768"/>
          </a:xfrm>
          <a:prstGeom prst="roundRect">
            <a:avLst>
              <a:gd name="adj" fmla="val 17021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55664" y="2944368"/>
            <a:ext cx="6035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87184" y="2816352"/>
            <a:ext cx="42245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계획된 일정에 도달하면 팀원 전원에게 개별 알림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3803904"/>
            <a:ext cx="53949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0392" y="4078224"/>
            <a:ext cx="603504" cy="429768"/>
          </a:xfrm>
          <a:prstGeom prst="roundRect">
            <a:avLst>
              <a:gd name="adj" fmla="val 17021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" y="4078224"/>
            <a:ext cx="6035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81912" y="3950208"/>
            <a:ext cx="42245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아침 7시, 전 팀원의 진행 현황을 전원이 수신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99632" y="3803904"/>
            <a:ext cx="53949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55664" y="4078224"/>
            <a:ext cx="603504" cy="429768"/>
          </a:xfrm>
          <a:prstGeom prst="roundRect">
            <a:avLst>
              <a:gd name="adj" fmla="val 17021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455664" y="4078224"/>
            <a:ext cx="6035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87184" y="3950208"/>
            <a:ext cx="42245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수 변동에 대응 (현재 3명, 변동 가능)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94360" y="4937760"/>
            <a:ext cx="53949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0392" y="5212080"/>
            <a:ext cx="603504" cy="429768"/>
          </a:xfrm>
          <a:prstGeom prst="roundRect">
            <a:avLst>
              <a:gd name="adj" fmla="val 17021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" y="5212080"/>
            <a:ext cx="6035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81912" y="5084064"/>
            <a:ext cx="42245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PC에서 누구나 쉽게 공유하고 편집할 수 있는 형태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199632" y="4937760"/>
            <a:ext cx="53949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55664" y="5212080"/>
            <a:ext cx="603504" cy="429768"/>
          </a:xfrm>
          <a:prstGeom prst="roundRect">
            <a:avLst>
              <a:gd name="adj" fmla="val 17021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455664" y="5212080"/>
            <a:ext cx="6035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87184" y="5084064"/>
            <a:ext cx="42245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알림은 카카오톡 우선, 어려우면 팀원별 지정 이메일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94360" y="608990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R4·R5의 “전원에게”가 이 도구의 성패를 가르는 지점입니다.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만들 것인가, 있는 것을 쓸 것인가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810512"/>
            <a:ext cx="640080" cy="640080"/>
          </a:xfrm>
          <a:prstGeom prst="ellipse">
            <a:avLst/>
          </a:prstGeom>
          <a:solidFill>
            <a:srgbClr val="3140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942" y="1983334"/>
            <a:ext cx="294437" cy="2944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64792" y="19019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개발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요구사항을 100% 그대로 구현 가능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331927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시트 + 스크립트 + 자동 실행 구성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394106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2~3일, 이후 오류 시 직접 수리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456285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앱·화면은 따로 없음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99632" y="1481328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65392" y="181051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214" y="1983334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70064" y="19019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도구 활용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6565392" y="2697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바로 시작, 개발 0일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565392" y="331927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앱·간트차트·이력 관리 무료 제공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565392" y="394106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고장나면 회사가 고쳐 줌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565392" y="456285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 알림·아침 요약은 완벽히 못 맞춤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94360" y="5559552"/>
            <a:ext cx="1100023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914400" y="555955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: </a:t>
            </a:r>
            <a:pPr indent="0" marL="0">
              <a:buNone/>
            </a:pPr>
            <a:r>
              <a:rPr lang="en-US" sz="13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요구사항에서 한 발 양보하고, 이미 만들어진 도구를 쓴다. </a:t>
            </a:r>
            <a:pPr indent="0" marL="0">
              <a:buNone/>
            </a:pPr>
            <a:r>
              <a:rPr lang="en-US" sz="1350" i="1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시작할 수 있다는 것이 완벽함보다 중요합니다.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양보해야 하는 부분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도구가 못 해 주는 세 가지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1000232" cy="1152144"/>
          </a:xfrm>
          <a:prstGeom prst="roundRect">
            <a:avLst>
              <a:gd name="adj" fmla="val 7143"/>
            </a:avLst>
          </a:prstGeom>
          <a:solidFill>
            <a:srgbClr val="141B4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7568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0" y="19659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도달 시 팀원 “전원”에게 알림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0" y="1984248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도구가 담당자와 참조자에게만 알림을 보내도록 설계되어 있습니다. 참조자에 전원을 넣으면 비슷해지지만, 등록할 때 사람이 챙겨야 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3081528"/>
            <a:ext cx="11000232" cy="1152144"/>
          </a:xfrm>
          <a:prstGeom prst="roundRect">
            <a:avLst>
              <a:gd name="adj" fmla="val 7143"/>
            </a:avLst>
          </a:prstGeom>
          <a:solidFill>
            <a:srgbClr val="141B4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7413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28800" y="326440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7시, 전원의 현황을 전원에게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943600" y="3282696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데일리 요약 기능이 있는 도구도 “내 업무 요약”만 보내 줍니다. 팀 전체 현황을 전원에게 뿌리는 기능은 표준으로 없습니다.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4379976"/>
            <a:ext cx="11000232" cy="1152144"/>
          </a:xfrm>
          <a:prstGeom prst="roundRect">
            <a:avLst>
              <a:gd name="adj" fmla="val 7143"/>
            </a:avLst>
          </a:prstGeom>
          <a:solidFill>
            <a:srgbClr val="141B4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7258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828800" y="4562856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방치 감지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943600" y="4581144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 전까지는 담당자가 며칠을 손대지 않아도 아무 신호가 없습니다. 사실 “까먹는 사람 관리”에는 마감 알림보다 이쪽이 더 중요합니다.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5870448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이유는 단순합니다. 시중 도구는 “내가 내 일을 잘 챙기도록 돕는” 물건이지, “안 챙기는 사람을 팀 전체가 보게 만드는” 물건이 아니기 때문입니다.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비교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 후보를 놓고 따져보면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63240"/>
                <a:gridCol w="2971800"/>
                <a:gridCol w="1673352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· 4단계 관리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장벽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두레이 (Dooray)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 업무 + 하위 업무로 4단계 그대로 구현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담당자·참조자 마감 알림, 모바일 앱 푸시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· 낮음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4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플로우 (flow)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4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관리 · 간트차트 지원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4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알림톡 등 발송 채널 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4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· 낮음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7C86A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범위 불투명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4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카카오워크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4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일 수준으로 단순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4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카카오톡과 거의 같은 사용감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4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· 가장 낮음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7C86A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마일스톤 관리 부족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4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ClickUp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4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매칭은 가장 좋음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4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원하는 시각에 데일리 요약 발송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4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영어 · 높음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7C86A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3인 전원 학습 부담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4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4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자유로운 기록에 강함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4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 알림 · 자동화가 약함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C44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· 중간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7C86A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까먹음 방지에 부적합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두레이는 3인 팀 기준 무료로 쓸 수 있고, 한국어 화면과 모바일 앱을 함께 제공합니다.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74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965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237744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NHN 두레이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(Dooray)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404164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· 한국어 · 모바일 알림</a:t>
            </a: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3인 팀에 가장 적합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23560" y="868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도구를 고른 네 가지 이유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623560" y="1572768"/>
            <a:ext cx="59436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97880" y="184708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0951" y="2000159"/>
            <a:ext cx="260787" cy="2607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29400" y="1755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범위가 넉넉하다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0756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팀은 무료로 사용 가능하며, 인원이 늘어도 당분간 여유가 있습니다.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23560" y="2852928"/>
            <a:ext cx="59436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97880" y="312724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951" y="3280319"/>
            <a:ext cx="260787" cy="2607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29400" y="30358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화면 + 모바일 푸시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629400" y="33558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 알림은 아니지만, 폰 푸시 알림이 사실상 같은 역할을 합니다.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623560" y="4133088"/>
            <a:ext cx="59436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97880" y="440740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951" y="4560479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29400" y="43159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+ 참조자 구조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629400" y="46360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업무에 팀원 전원을 참조자로 넣는 규칙만 지키면 “전원 알림”이 됩니다.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623560" y="5413248"/>
            <a:ext cx="59436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897880" y="568756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0951" y="5840639"/>
            <a:ext cx="260787" cy="26078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29400" y="55961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마감일 알림이 기본 내장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629400" y="59161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업무별 시작일·마감일과 완료율 표시를 기본으로 제공합니다.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나오는 첫 질문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두레이는 앱인가요, 웹인가요?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813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다 됩니다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54680" y="14813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쪽으로 들어가도 똑같은 내용이 보입니다. 한 곳에서 적으면 나머지에도 그대로 반영됩니다.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" y="2194560"/>
            <a:ext cx="34747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2542032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879" y="2719791"/>
            <a:ext cx="302849" cy="3028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33649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브라우저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60120" y="3712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불필요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60120" y="4041648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dooray.com에 접속해서 로그인만 하면 끝입니다. 크롬·엣지 어느 것이든 됩니다.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61688" y="2194560"/>
            <a:ext cx="34747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45736" y="2542032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495" y="2719791"/>
            <a:ext cx="302849" cy="30284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45736" y="33649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설치용 앱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745736" y="3712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사항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745736" y="4041648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대신 별도 창으로 띄우고 싶을 때 씁니다. 안 깔아도 아무 문제 없습니다.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47304" y="2194560"/>
            <a:ext cx="3474720" cy="2788920"/>
          </a:xfrm>
          <a:prstGeom prst="roundRect">
            <a:avLst>
              <a:gd name="adj" fmla="val 327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531352" y="2542032"/>
            <a:ext cx="658368" cy="658368"/>
          </a:xfrm>
          <a:prstGeom prst="ellipse">
            <a:avLst/>
          </a:prstGeom>
          <a:solidFill>
            <a:srgbClr val="31408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111" y="2719791"/>
            <a:ext cx="302849" cy="30284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31352" y="33649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 앱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531352" y="3712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권장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531352" y="4041648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안드로이드·아이폰 모두 지원. 알림을 놓치지 않으려면 이것만은 꼭 설치합니다.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94360" y="5230368"/>
            <a:ext cx="110002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14400" y="5431536"/>
            <a:ext cx="548640" cy="548640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3" y="5579669"/>
            <a:ext cx="252374" cy="25237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27632" y="5230368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조합 :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PC에서는 브라우저로 기록하고 편집, 폰에는 앱을 깔아 알림만 받습니다. 알림을 놓치지 않는 것이 도입 목적이므로 폰 앱 설치는 사실상 필수입니다.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쓰는 사람을 위한 설명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두레이가 대체 뭔가요?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11000232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847088"/>
            <a:ext cx="603504" cy="603504"/>
          </a:xfrm>
          <a:prstGeom prst="ellipse">
            <a:avLst/>
          </a:prstGeom>
          <a:solidFill>
            <a:srgbClr val="3140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066" y="2010034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481328"/>
            <a:ext cx="9509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“우리 팀 전용 게시판인데, 글마다 마감일이 붙어 있고,</a:t>
            </a:r>
            <a:endParaRPr lang="en-US" sz="17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마감이 다가오면 폰으로 알림이 오는 서비스”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94360" y="29992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알아야 할 단어는 딱 세 개뿐입니다.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76072" y="3429000"/>
            <a:ext cx="347472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0120" y="3730752"/>
            <a:ext cx="603504" cy="60350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066" y="3893698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7856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960120" y="44988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우리말로 하면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60120" y="475488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팀 게시판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960120" y="5349240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하나만 만들면 됩니다. 팀 전체가 이 안에서 모든 업무를 봅니다.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361688" y="3429000"/>
            <a:ext cx="347472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45736" y="3730752"/>
            <a:ext cx="603504" cy="60350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682" y="3893698"/>
            <a:ext cx="277612" cy="2776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77256" y="37856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4745736" y="44988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우리말로 하면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745736" y="475488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게시판의 글 하나 = 내가 맡은 일 하나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745736" y="5349240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“7월 정산 보고서”처럼 일 단위로 하나씩 만듭니다.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147304" y="3429000"/>
            <a:ext cx="347472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531352" y="3730752"/>
            <a:ext cx="603504" cy="60350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4298" y="3893698"/>
            <a:ext cx="277612" cy="2776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62872" y="37856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업무</a:t>
            </a:r>
            <a:endParaRPr lang="en-US" sz="1900" dirty="0"/>
          </a:p>
        </p:txBody>
      </p:sp>
      <p:sp>
        <p:nvSpPr>
          <p:cNvPr id="28" name="Text 22"/>
          <p:cNvSpPr/>
          <p:nvPr/>
        </p:nvSpPr>
        <p:spPr>
          <a:xfrm>
            <a:off x="8531352" y="44988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우리말로 하면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531352" y="475488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일의 단계별 체크리스트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8531352" y="5349240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→ 중간점검 1 → 중간점검 2 → 완료, 네 개를 만듭니다.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최초 1회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딱 한 번만 하는 설정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75320" y="749808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75320" y="7498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1명이 · 약 30분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92808" y="2363724"/>
            <a:ext cx="8284464" cy="27432"/>
          </a:xfrm>
          <a:prstGeom prst="rect">
            <a:avLst/>
          </a:prstGeom>
          <a:solidFill>
            <a:srgbClr val="DDE3F2"/>
          </a:solidFill>
          <a:ln/>
        </p:spPr>
      </p:sp>
      <p:sp>
        <p:nvSpPr>
          <p:cNvPr id="8" name="Shape 6"/>
          <p:cNvSpPr/>
          <p:nvPr/>
        </p:nvSpPr>
        <p:spPr>
          <a:xfrm>
            <a:off x="1490472" y="1975104"/>
            <a:ext cx="804672" cy="804672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90472" y="1975104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94360" y="3090672"/>
            <a:ext cx="2596896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" y="3310128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가입하고 팀 공간 만들기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104" y="4005072"/>
            <a:ext cx="21214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dooray.com에서 무료로 가입한 뒤, 우리 팀이 쓸 공간을 하나 만듭니다.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51960" y="1975104"/>
            <a:ext cx="804672" cy="804672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51960" y="1975104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355848" y="3090672"/>
            <a:ext cx="2596896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93592" y="3310128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2명 초대하기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593592" y="4005072"/>
            <a:ext cx="21214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팀원의 이메일 주소로 초대를 보냅니다. 받은 사람은 메일 속 링크만 누르면 가입이 끝납니다.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13448" y="1975104"/>
            <a:ext cx="804672" cy="804672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13448" y="1975104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117336" y="3090672"/>
            <a:ext cx="2596896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3310128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1개 만들기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355080" y="4005072"/>
            <a:ext cx="21214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“팀 업무” 정도면 충분합니다. 여러 개 만들지 말고 하나로 시작하세요.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774936" y="1975104"/>
            <a:ext cx="804672" cy="804672"/>
          </a:xfrm>
          <a:prstGeom prst="ellipse">
            <a:avLst/>
          </a:prstGeom>
          <a:solidFill>
            <a:srgbClr val="FFB627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74936" y="1975104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8878824" y="3090672"/>
            <a:ext cx="2596896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16568" y="3310128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3명 모두 폰 앱 설치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116568" y="4005072"/>
            <a:ext cx="21214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앱을 깔고 로그인한 뒤 알림 허용을 켭니다. 이 단계를 빠뜨리면 도입 효과가 절반이 됩니다.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4360" y="57424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이후에는 이 설정을 다시 할 일이 없습니다. 팀원이 바뀌면 2번(초대)만 다시 하면 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· 일을 새로 맡았을 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등록하기 (1건당 3분)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572768"/>
            <a:ext cx="5349240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984248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984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91056" y="17922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[업무 추가]를 누르고 제목 입력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91056" y="2139696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: “7월 정산 보고서”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054096"/>
            <a:ext cx="5349240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465576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4655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91056" y="32735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담당자는 본인, 참조자는 팀원 전원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591056" y="3621024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참조자로 들어가 있어야 서로의 일정 알림을 다 같이 받습니다. 우리 팀 규칙의 핵심입니다.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4535424"/>
            <a:ext cx="5349240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946904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9469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91056" y="47548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업무 4개에 각각 날짜 지정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91056" y="51023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중간점검 1 · 중간점검 2 · 완료 순서로 만들고 마감일을 넣습니다.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1572768"/>
            <a:ext cx="5239512" cy="4425696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실제로는 이렇게 보입니다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정산 보고서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75120" y="2523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 김○○      참조자  이○○, 박○○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675120" y="2889504"/>
            <a:ext cx="4599432" cy="18288"/>
          </a:xfrm>
          <a:prstGeom prst="rect">
            <a:avLst/>
          </a:prstGeom>
          <a:solidFill>
            <a:srgbClr val="DDE3F2"/>
          </a:solidFill>
          <a:ln/>
        </p:spPr>
      </p:sp>
      <p:sp>
        <p:nvSpPr>
          <p:cNvPr id="25" name="Shape 23"/>
          <p:cNvSpPr/>
          <p:nvPr/>
        </p:nvSpPr>
        <p:spPr>
          <a:xfrm>
            <a:off x="6675120" y="3072384"/>
            <a:ext cx="4599432" cy="54864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26" name="Shape 24"/>
          <p:cNvSpPr/>
          <p:nvPr/>
        </p:nvSpPr>
        <p:spPr>
          <a:xfrm>
            <a:off x="6821424" y="317296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241" y="3266785"/>
            <a:ext cx="159837" cy="159837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315200" y="30723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9966960" y="307238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675120" y="3730752"/>
            <a:ext cx="4599432" cy="54864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31" name="Shape 28"/>
          <p:cNvSpPr/>
          <p:nvPr/>
        </p:nvSpPr>
        <p:spPr>
          <a:xfrm>
            <a:off x="6821424" y="383133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241" y="3925153"/>
            <a:ext cx="159837" cy="159837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315200" y="37307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중간점검 1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>
            <a:off x="9966960" y="373075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5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675120" y="4389120"/>
            <a:ext cx="4599432" cy="54864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/>
        </p:spPr>
      </p:sp>
      <p:sp>
        <p:nvSpPr>
          <p:cNvPr id="36" name="Shape 32"/>
          <p:cNvSpPr/>
          <p:nvPr/>
        </p:nvSpPr>
        <p:spPr>
          <a:xfrm>
            <a:off x="6821424" y="4489704"/>
            <a:ext cx="347472" cy="347472"/>
          </a:xfrm>
          <a:prstGeom prst="ellipse">
            <a:avLst/>
          </a:prstGeom>
          <a:solidFill>
            <a:srgbClr val="DDE3F2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241" y="4583521"/>
            <a:ext cx="159837" cy="159837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315200" y="4389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중간점검 2</a:t>
            </a:r>
            <a:endParaRPr lang="en-US" sz="1350" dirty="0"/>
          </a:p>
        </p:txBody>
      </p:sp>
      <p:sp>
        <p:nvSpPr>
          <p:cNvPr id="39" name="Text 34"/>
          <p:cNvSpPr/>
          <p:nvPr/>
        </p:nvSpPr>
        <p:spPr>
          <a:xfrm>
            <a:off x="9966960" y="43891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86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6675120" y="5047488"/>
            <a:ext cx="4599432" cy="54864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/>
        </p:spPr>
      </p:sp>
      <p:sp>
        <p:nvSpPr>
          <p:cNvPr id="41" name="Shape 36"/>
          <p:cNvSpPr/>
          <p:nvPr/>
        </p:nvSpPr>
        <p:spPr>
          <a:xfrm>
            <a:off x="6821424" y="5148072"/>
            <a:ext cx="347472" cy="347472"/>
          </a:xfrm>
          <a:prstGeom prst="ellipse">
            <a:avLst/>
          </a:prstGeom>
          <a:solidFill>
            <a:srgbClr val="DDE3F2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241" y="5241889"/>
            <a:ext cx="159837" cy="159837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315200" y="50474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350" dirty="0"/>
          </a:p>
        </p:txBody>
      </p:sp>
      <p:sp>
        <p:nvSpPr>
          <p:cNvPr id="44" name="Text 38"/>
          <p:cNvSpPr/>
          <p:nvPr/>
        </p:nvSpPr>
        <p:spPr>
          <a:xfrm>
            <a:off x="9966960" y="504748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86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300" dirty="0"/>
          </a:p>
        </p:txBody>
      </p:sp>
      <p:sp>
        <p:nvSpPr>
          <p:cNvPr id="45" name="Text 39"/>
          <p:cNvSpPr/>
          <p:nvPr/>
        </p:nvSpPr>
        <p:spPr>
          <a:xfrm>
            <a:off x="594360" y="6144768"/>
            <a:ext cx="11000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체크한 두 단계는 이미 통과, 남은 두 단계는 날짜가 되면 전원에게 알림이 갑니다.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· 매일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하는 것은 이게 전부입니다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317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3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하루에 드는 시간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2062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번거로우면</a:t>
            </a:r>
            <a:endParaRPr lang="en-US" sz="11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도구는 반드시 죽습니다.</a:t>
            </a:r>
            <a:endParaRPr lang="en-US" sz="11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할 일을 최소로 줄였습니다.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1600200"/>
            <a:ext cx="706831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929384"/>
            <a:ext cx="603504" cy="60350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0978" y="2092330"/>
            <a:ext cx="277612" cy="2776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32704" y="181965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아침에 확인한다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32704" y="216712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 알림을 보거나 프로젝트 화면을 열어, 오늘 날짜가 된 단계가 있는지 봅니다.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26280" y="3017520"/>
            <a:ext cx="706831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28032" y="3346704"/>
            <a:ext cx="603504" cy="60350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978" y="3509650"/>
            <a:ext cx="277612" cy="2776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32704" y="323697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끝낸 단계는 바로 체크한다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632704" y="358444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하위 업무의 체크박스를 누릅니다. 이 체크가 팀 전체에 대한 보고를 대신합니다.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526280" y="4434840"/>
            <a:ext cx="706831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828032" y="4764024"/>
            <a:ext cx="603504" cy="60350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978" y="4926970"/>
            <a:ext cx="277612" cy="2776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632704" y="465429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밀리면 댓글 한 줄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632704" y="500176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“원천 데이터가 늦어져 중간점검 1을 8/7로 미룹니다” 정도면 충분합니다.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94360" y="594360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체크를 미루면 팀원 모두의 화면에 “아직 안 됨”으로 남습니다. 그게 이 도구의 압력입니다.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규칙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줄만 지키면 굴러갑니다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76072" y="1783080"/>
            <a:ext cx="3474720" cy="3840480"/>
          </a:xfrm>
          <a:prstGeom prst="roundRect">
            <a:avLst>
              <a:gd name="adj" fmla="val 2632"/>
            </a:avLst>
          </a:prstGeom>
          <a:solidFill>
            <a:srgbClr val="141B4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574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기록에 없는 일은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일이다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4224528"/>
            <a:ext cx="2724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맡은 일은 예외 없이 업무로 등록합니다. 머릿속에만 있는 일은 관리 대상이 아닙니다.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1783080"/>
            <a:ext cx="3474720" cy="3840480"/>
          </a:xfrm>
          <a:prstGeom prst="roundRect">
            <a:avLst>
              <a:gd name="adj" fmla="val 2632"/>
            </a:avLst>
          </a:prstGeom>
          <a:solidFill>
            <a:srgbClr val="141B45"/>
          </a:solidFill>
          <a:ln/>
        </p:spPr>
      </p:sp>
      <p:sp>
        <p:nvSpPr>
          <p:cNvPr id="10" name="Text 8"/>
          <p:cNvSpPr/>
          <p:nvPr/>
        </p:nvSpPr>
        <p:spPr>
          <a:xfrm>
            <a:off x="4745736" y="20574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745736" y="3063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참조자는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전원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45736" y="4224528"/>
            <a:ext cx="2724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업무를 만들 때 팀원 모두를 참조자로 넣습니다. 서로가 서로의 리마인더가 됩니다.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47304" y="1783080"/>
            <a:ext cx="3474720" cy="3840480"/>
          </a:xfrm>
          <a:prstGeom prst="roundRect">
            <a:avLst>
              <a:gd name="adj" fmla="val 2632"/>
            </a:avLst>
          </a:prstGeom>
          <a:solidFill>
            <a:srgbClr val="141B45"/>
          </a:solidFill>
          <a:ln/>
        </p:spPr>
      </p:sp>
      <p:sp>
        <p:nvSpPr>
          <p:cNvPr id="14" name="Text 12"/>
          <p:cNvSpPr/>
          <p:nvPr/>
        </p:nvSpPr>
        <p:spPr>
          <a:xfrm>
            <a:off x="8531352" y="20574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8531352" y="3063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체크는 본인이,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끝낸 그날에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31352" y="4224528"/>
            <a:ext cx="2724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단계를 마친 날 바로 완료 처리합니다. 몰아서 하면 기록이 사실과 달라집니다.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5870448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C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짧아야 지켜집니다. 이 세 줄을 프로젝트 설명란에 그대로 적어 두세요.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알고 시작하기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남는 빈틈, 그리고 메우는 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572768"/>
            <a:ext cx="4892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28800"/>
            <a:ext cx="530352" cy="530352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595" y="1971995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4505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방치 감지가 없다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14400" y="279806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 전까지는 담당자가 며칠을 손대지 않아도 아무 알림이 없습니다.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" y="3675888"/>
            <a:ext cx="4892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3931920"/>
            <a:ext cx="530352" cy="530352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595" y="4075115"/>
            <a:ext cx="243962" cy="2439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4059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14400" y="45537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참조자 등록은 사람이 한다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914400" y="490118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전원을 참조자로 넣는 것을 시스템이 강제하지는 않습니다.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669280" y="2331720"/>
            <a:ext cx="384048" cy="384048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973" y="2435413"/>
            <a:ext cx="176662" cy="17666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91072" y="1572768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11112" y="1828800"/>
            <a:ext cx="530352" cy="530352"/>
          </a:xfrm>
          <a:prstGeom prst="ellipse">
            <a:avLst/>
          </a:prstGeom>
          <a:solidFill>
            <a:srgbClr val="31408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307" y="1971995"/>
            <a:ext cx="243962" cy="243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96912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보완책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611112" y="24505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1회 정례 점검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6611112" y="279806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월요일 아침 10분, 프로젝트 화면을 함께 보며 지난주에 움직이지 않은 업무를 짚습니다.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669280" y="4434840"/>
            <a:ext cx="384048" cy="384048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973" y="4538533"/>
            <a:ext cx="176662" cy="17666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291072" y="3675888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611112" y="3931920"/>
            <a:ext cx="530352" cy="530352"/>
          </a:xfrm>
          <a:prstGeom prst="ellipse">
            <a:avLst/>
          </a:prstGeom>
          <a:solidFill>
            <a:srgbClr val="31408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4307" y="4075115"/>
            <a:ext cx="243962" cy="24396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296912" y="4059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보완책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6611112" y="45537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템플릿 활용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6611112" y="49011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참조자가 미리 채워진 템플릿으로 업무를 만들면 빠뜨릴 일이 줄어듭니다.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594360" y="5779008"/>
            <a:ext cx="1100023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914400" y="5779008"/>
            <a:ext cx="10378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나중을 위한 여지 : </a:t>
            </a:r>
            <a:pPr indent="0" marL="0">
              <a:buNone/>
            </a:pPr>
            <a:r>
              <a:rPr lang="en-US" sz="12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7시 전체 요약과 방치 감지가 정말 아쉬워지면, 그때 두레이의 자료를 읽어 알림만 보내 주는 스크립트를 붙이면 됩니다. (개발 1~2일)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무엇부터 하면 되는가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572768"/>
            <a:ext cx="658368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83664"/>
            <a:ext cx="1207008" cy="512064"/>
          </a:xfrm>
          <a:prstGeom prst="roundRect">
            <a:avLst>
              <a:gd name="adj" fmla="val 16071"/>
            </a:avLst>
          </a:prstGeom>
          <a:solidFill>
            <a:srgbClr val="FFB62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83664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240280" y="17373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두레이 가입 · 팀원 초대 · 프로젝트 1개 생성 · 3명 폰 앱 설치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871216"/>
            <a:ext cx="658368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182112"/>
            <a:ext cx="1207008" cy="512064"/>
          </a:xfrm>
          <a:prstGeom prst="roundRect">
            <a:avLst>
              <a:gd name="adj" fmla="val 1607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82112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240280" y="303580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중인 업무를 전부 등록하고 4단계 일정을 채워 넣기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169664"/>
            <a:ext cx="658368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480560"/>
            <a:ext cx="1207008" cy="512064"/>
          </a:xfrm>
          <a:prstGeom prst="roundRect">
            <a:avLst>
              <a:gd name="adj" fmla="val 16071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480560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 후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40280" y="433425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44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지켜지는지 점검하고, 알림 빈도와 규칙을 팀에 맞게 조정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52360" y="1572768"/>
            <a:ext cx="4142232" cy="3602736"/>
          </a:xfrm>
          <a:prstGeom prst="roundRect">
            <a:avLst>
              <a:gd name="adj" fmla="val 253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정해야 할 것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72400" y="2450592"/>
            <a:ext cx="329184" cy="329184"/>
          </a:xfrm>
          <a:prstGeom prst="ellipse">
            <a:avLst/>
          </a:prstGeom>
          <a:solidFill>
            <a:srgbClr val="31408A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280" y="2539472"/>
            <a:ext cx="151425" cy="15142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47888" y="239572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두레이로 확정할지 여부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772400" y="3090672"/>
            <a:ext cx="329184" cy="329184"/>
          </a:xfrm>
          <a:prstGeom prst="ellipse">
            <a:avLst/>
          </a:prstGeom>
          <a:solidFill>
            <a:srgbClr val="31408A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280" y="3179552"/>
            <a:ext cx="151425" cy="15142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47888" y="303580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3명의 가입용 이메일 주소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7772400" y="3730752"/>
            <a:ext cx="329184" cy="329184"/>
          </a:xfrm>
          <a:prstGeom prst="ellipse">
            <a:avLst/>
          </a:prstGeom>
          <a:solidFill>
            <a:srgbClr val="31408A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280" y="3819632"/>
            <a:ext cx="151425" cy="15142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247888" y="367588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정례 점검 요일과 시간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7772400" y="4370832"/>
            <a:ext cx="329184" cy="329184"/>
          </a:xfrm>
          <a:prstGeom prst="ellipse">
            <a:avLst/>
          </a:prstGeom>
          <a:solidFill>
            <a:srgbClr val="31408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280" y="4459712"/>
            <a:ext cx="151425" cy="15142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247888" y="431596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등록을 언제까지 마칠지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594360" y="5650992"/>
            <a:ext cx="110002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1E2761">
                <a:alpha val="10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914400" y="5650992"/>
            <a:ext cx="10378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완벽해서 쓰는 것이 아니라, 계속 쓰기 때문에 효과가 생깁니다.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 업무 마일스톤 관리 체계 도입안</dc:title>
  <dc:subject>PptxGenJS Presentation</dc:subject>
  <dc:creator>Team</dc:creator>
  <cp:lastModifiedBy>Team</cp:lastModifiedBy>
  <cp:revision>1</cp:revision>
  <dcterms:created xsi:type="dcterms:W3CDTF">2026-07-29T05:15:30Z</dcterms:created>
  <dcterms:modified xsi:type="dcterms:W3CDTF">2026-07-29T05:15:30Z</dcterms:modified>
</cp:coreProperties>
</file>